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F172A"/>
                </a:solidFill>
              </a:defRPr>
            </a:pPr>
            <a:r>
              <a:t>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86384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64748B"/>
                </a:solidFill>
              </a:defRPr>
            </a:pPr>
            <a:r>
              <a:t>Detection that arrives after the fact cannot prevent the incident.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19088"/>
            <a:ext cx="11155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4748B"/>
                </a:solidFill>
              </a:defRPr>
            </a:pPr>
            <a:r>
              <a:t>SENTINEL  |  SIH26153  |  1/6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88720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0F172A"/>
                </a:solidFill>
              </a:defRPr>
            </a:pPr>
            <a:r>
              <a:t>Traditional IDS/IPS answers: is this flow malicious?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82880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0F172A"/>
                </a:solidFill>
              </a:defRPr>
            </a:pPr>
            <a:r>
              <a:t>It scores each flow or session in isolation, so it has no memory of a trajectory.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28600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0F172A"/>
                </a:solidFill>
              </a:defRPr>
            </a:pPr>
            <a:r>
              <a:t>By the time exfiltration is detected, the data has already left.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74320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0F172A"/>
                </a:solidFill>
              </a:defRPr>
            </a:pPr>
            <a:r>
              <a:t>A brute-force burst and a single mistyped password look alike at the flow level.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20040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0F172A"/>
                </a:solidFill>
              </a:defRPr>
            </a:pPr>
            <a:r>
              <a:t>A late alert gives the analyst no indication of what is likely to come next.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11480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563EB"/>
                </a:solidFill>
              </a:defRPr>
            </a:pPr>
            <a:r>
              <a:t>The gap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526280"/>
            <a:ext cx="11155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0F172A"/>
                </a:solidFill>
              </a:defRPr>
            </a:pPr>
            <a:r>
              <a:t>No component in a typical pipeline answers: given the current trajectory, which stage comes next, which assets are exposed, and why?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566928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6A34A"/>
                </a:solidFill>
              </a:defRPr>
            </a:pPr>
            <a:r>
              <a:t>SENTINEL targets that gap: forecast attack progression, with the evidence behind every probability.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F172A"/>
                </a:solidFill>
              </a:defRPr>
            </a:pPr>
            <a:r>
              <a:t>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86384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64748B"/>
                </a:solidFill>
              </a:defRPr>
            </a:pPr>
            <a:r>
              <a:t>An offline, explainable temporal forecasting prototype.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19088"/>
            <a:ext cx="11155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4748B"/>
                </a:solidFill>
              </a:defRPr>
            </a:pPr>
            <a:r>
              <a:t>SENTINEL  |  SIH26153  |  2/6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80160"/>
            <a:ext cx="1770278" cy="475488"/>
          </a:xfrm>
          <a:prstGeom prst="rect">
            <a:avLst/>
          </a:prstGeom>
          <a:solidFill>
            <a:srgbClr val="F1F5F9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Traffic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73198" y="1371600"/>
            <a:ext cx="24140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4748B"/>
                </a:solidFill>
              </a:defRPr>
            </a:pPr>
            <a:r>
              <a:t>→</a:t>
            </a:r>
          </a:p>
        </p:txBody>
      </p:sp>
      <p:sp>
        <p:nvSpPr>
          <p:cNvPr id="7" name="Rectangle 6"/>
          <p:cNvSpPr/>
          <p:nvPr/>
        </p:nvSpPr>
        <p:spPr>
          <a:xfrm>
            <a:off x="2514600" y="1280160"/>
            <a:ext cx="1770278" cy="475488"/>
          </a:xfrm>
          <a:prstGeom prst="rect">
            <a:avLst/>
          </a:prstGeom>
          <a:solidFill>
            <a:srgbClr val="F1F5F9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Detection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84878" y="1371600"/>
            <a:ext cx="24140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4748B"/>
                </a:solidFill>
              </a:defRPr>
            </a:pPr>
            <a: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4526280" y="1280160"/>
            <a:ext cx="1770278" cy="475488"/>
          </a:xfrm>
          <a:prstGeom prst="rect">
            <a:avLst/>
          </a:prstGeom>
          <a:solidFill>
            <a:srgbClr val="F1F5F9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Temporal context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96558" y="1371600"/>
            <a:ext cx="24140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4748B"/>
                </a:solidFill>
              </a:defRPr>
            </a:pPr>
            <a: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37960" y="1280160"/>
            <a:ext cx="1770278" cy="475488"/>
          </a:xfrm>
          <a:prstGeom prst="rect">
            <a:avLst/>
          </a:prstGeom>
          <a:solidFill>
            <a:srgbClr val="F1F5F9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Stage forecast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08238" y="1371600"/>
            <a:ext cx="24140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4748B"/>
                </a:solidFill>
              </a:defRPr>
            </a:pPr>
            <a: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549640" y="1280160"/>
            <a:ext cx="1770278" cy="475488"/>
          </a:xfrm>
          <a:prstGeom prst="rect">
            <a:avLst/>
          </a:prstGeom>
          <a:solidFill>
            <a:srgbClr val="F1F5F9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Explainable risk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103120"/>
            <a:ext cx="8851392" cy="475488"/>
          </a:xfrm>
          <a:prstGeom prst="rect">
            <a:avLst/>
          </a:prstGeom>
          <a:solidFill>
            <a:srgbClr val="F1F5F9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Tamper-evident evidence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017520"/>
            <a:ext cx="11155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0F172A"/>
                </a:solidFill>
              </a:defRPr>
            </a:pPr>
            <a:r>
              <a:t>Trajectory-aware. Windows are ordered per scenario, and a recurrent state-space model scores the infiltration risk at each future step rather than scoring one window in isolation.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584448"/>
            <a:ext cx="11155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0F172A"/>
                </a:solidFill>
              </a:defRPr>
            </a:pPr>
            <a:r>
              <a:t>Evidence-bound. Every probability ships with the features that drove it, and attributions are labelled model evidence, never proof of a technique.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151376"/>
            <a:ext cx="11155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0F172A"/>
                </a:solidFill>
              </a:defRPr>
            </a:pPr>
            <a:r>
              <a:t>Offline. No network calls in src/sentinel/; a test enforces it, so a capture never leaves the machine.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718304"/>
            <a:ext cx="11155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0F172A"/>
                </a:solidFill>
              </a:defRPr>
            </a:pPr>
            <a:r>
              <a:t>Honest by construction. Where a measurement does not exist, the project prints PENDING rather than a plausible number.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576072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B45309"/>
                </a:solidFill>
              </a:defRPr>
            </a:pPr>
            <a:r>
              <a:t>This is a research prototype. It is not a production SOC platform and does not claim field-validated detection rates.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F172A"/>
                </a:solidFill>
              </a:defRPr>
            </a:pPr>
            <a:r>
              <a:t>Technical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86384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64748B"/>
                </a:solidFill>
              </a:defRPr>
            </a:pPr>
            <a:r>
              <a:t>Every stage below is implemented and exercised by tests.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19088"/>
            <a:ext cx="11155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4748B"/>
                </a:solidFill>
              </a:defRPr>
            </a:pPr>
            <a:r>
              <a:t>SENTINEL  |  SIH26153  |  3/6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88720"/>
            <a:ext cx="2253081" cy="475488"/>
          </a:xfrm>
          <a:prstGeom prst="rect">
            <a:avLst/>
          </a:prstGeom>
          <a:solidFill>
            <a:srgbClr val="F1F5F9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000" b="1">
                <a:solidFill>
                  <a:srgbClr val="0F172A"/>
                </a:solidFill>
              </a:defRPr>
            </a:pPr>
            <a:r>
              <a:t>Flow CSV / PCAP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56001" y="1280160"/>
            <a:ext cx="30723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4748B"/>
                </a:solidFill>
              </a:defRPr>
            </a:pPr>
            <a:r>
              <a:t>→</a:t>
            </a:r>
          </a:p>
        </p:txBody>
      </p:sp>
      <p:sp>
        <p:nvSpPr>
          <p:cNvPr id="7" name="Rectangle 6"/>
          <p:cNvSpPr/>
          <p:nvPr/>
        </p:nvSpPr>
        <p:spPr>
          <a:xfrm>
            <a:off x="3063240" y="1188720"/>
            <a:ext cx="2253081" cy="475488"/>
          </a:xfrm>
          <a:prstGeom prst="rect">
            <a:avLst/>
          </a:prstGeom>
          <a:solidFill>
            <a:srgbClr val="F1F5F9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000" b="1">
                <a:solidFill>
                  <a:srgbClr val="0F172A"/>
                </a:solidFill>
              </a:defRPr>
            </a:pPr>
            <a:r>
              <a:t>Windowed features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16321" y="1280160"/>
            <a:ext cx="30723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4748B"/>
                </a:solidFill>
              </a:defRPr>
            </a:pPr>
            <a: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5623560" y="1188720"/>
            <a:ext cx="2253081" cy="475488"/>
          </a:xfrm>
          <a:prstGeom prst="rect">
            <a:avLst/>
          </a:prstGeom>
          <a:solidFill>
            <a:srgbClr val="F1F5F9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000" b="1">
                <a:solidFill>
                  <a:srgbClr val="0F172A"/>
                </a:solidFill>
              </a:defRPr>
            </a:pPr>
            <a:r>
              <a:t>Detection layer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76641" y="1280160"/>
            <a:ext cx="30723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4748B"/>
                </a:solidFill>
              </a:defRPr>
            </a:pPr>
            <a: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83880" y="1188720"/>
            <a:ext cx="2253081" cy="475488"/>
          </a:xfrm>
          <a:prstGeom prst="rect">
            <a:avLst/>
          </a:prstGeom>
          <a:solidFill>
            <a:srgbClr val="F1F5F9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000" b="1">
                <a:solidFill>
                  <a:srgbClr val="0F172A"/>
                </a:solidFill>
              </a:defRPr>
            </a:pPr>
            <a:r>
              <a:t>Temporal + stage model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1920240"/>
            <a:ext cx="2253081" cy="475488"/>
          </a:xfrm>
          <a:prstGeom prst="rect">
            <a:avLst/>
          </a:prstGeom>
          <a:solidFill>
            <a:srgbClr val="F1F5F9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000" b="1">
                <a:solidFill>
                  <a:srgbClr val="0F172A"/>
                </a:solidFill>
              </a:defRPr>
            </a:pPr>
            <a:r>
              <a:t>Risk + calibration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56001" y="2011680"/>
            <a:ext cx="30723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4748B"/>
                </a:solidFill>
              </a:defRPr>
            </a:pPr>
            <a: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63240" y="1920240"/>
            <a:ext cx="2253081" cy="475488"/>
          </a:xfrm>
          <a:prstGeom prst="rect">
            <a:avLst/>
          </a:prstGeom>
          <a:solidFill>
            <a:srgbClr val="F1F5F9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000" b="1">
                <a:solidFill>
                  <a:srgbClr val="0F172A"/>
                </a:solidFill>
              </a:defRPr>
            </a:pPr>
            <a:r>
              <a:t>Explanation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16321" y="2011680"/>
            <a:ext cx="30723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4748B"/>
                </a:solidFill>
              </a:defRPr>
            </a:pPr>
            <a: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23560" y="1920240"/>
            <a:ext cx="2253081" cy="475488"/>
          </a:xfrm>
          <a:prstGeom prst="rect">
            <a:avLst/>
          </a:prstGeom>
          <a:solidFill>
            <a:srgbClr val="F1F5F9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000" b="1">
                <a:solidFill>
                  <a:srgbClr val="0F172A"/>
                </a:solidFill>
              </a:defRPr>
            </a:pPr>
            <a:r>
              <a:t>Alert ledger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76641" y="2011680"/>
            <a:ext cx="30723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4748B"/>
                </a:solidFill>
              </a:defRPr>
            </a:pPr>
            <a: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83880" y="1920240"/>
            <a:ext cx="2253081" cy="475488"/>
          </a:xfrm>
          <a:prstGeom prst="rect">
            <a:avLst/>
          </a:prstGeom>
          <a:solidFill>
            <a:srgbClr val="F1F5F9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000" b="1">
                <a:solidFill>
                  <a:srgbClr val="0F172A"/>
                </a:solidFill>
              </a:defRPr>
            </a:pPr>
            <a:r>
              <a:t>Dashboard / REST API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26974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Windowing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23160" y="26974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64748B"/>
                </a:solidFill>
              </a:defRPr>
            </a:pPr>
            <a:r>
              <a:t>state_builder.py - 60 s windows, flow and packet level, 98 features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3026664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Detection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23160" y="302666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64748B"/>
                </a:solidFill>
              </a:defRPr>
            </a:pPr>
            <a:r>
              <a:t>detectors.py - 9 MITRE-mapped rules + calibrated logistic baseline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33558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Temporal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23160" y="335584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64748B"/>
                </a:solidFill>
              </a:defRPr>
            </a:pPr>
            <a:r>
              <a:t>world_model/ - RSSM with prior/posterior split and open-loop rollouts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368503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Calibration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423160" y="368503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64748B"/>
                </a:solidFill>
              </a:defRPr>
            </a:pPr>
            <a:r>
              <a:t>calibration.py, isotonic.py, conformal.py - split, PAVA, conformal band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401421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Explanation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423160" y="4014216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64748B"/>
                </a:solidFill>
              </a:defRPr>
            </a:pPr>
            <a:r>
              <a:t>explain/ - exact / gradient / permutation attribution + counterfactual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43434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Evidence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423160" y="43434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64748B"/>
                </a:solidFill>
              </a:defRPr>
            </a:pPr>
            <a:r>
              <a:t>ledger.py - append-only hash chain, verified on read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4672584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Serving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423160" y="467258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64748B"/>
                </a:solidFill>
              </a:defRPr>
            </a:pPr>
            <a:r>
              <a:t>api/app.py (27 routes, API-key RBAC) and dashboard/ (10 screens)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5943600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64748B"/>
                </a:solidFill>
              </a:defRPr>
            </a:pPr>
            <a:r>
              <a:t>Dataset: synthetic-recon-lateral-v3   ·   98 features   ·   schema state-features-v2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F172A"/>
                </a:solidFill>
              </a:defRPr>
            </a:pPr>
            <a:r>
              <a:t>What is actually different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86384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64748B"/>
                </a:solidFill>
              </a:defRPr>
            </a:pPr>
            <a:r>
              <a:t>No superlatives. These are the parts that are built.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19088"/>
            <a:ext cx="11155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4748B"/>
                </a:solidFill>
              </a:defRPr>
            </a:pPr>
            <a:r>
              <a:t>SENTINEL  |  SIH26153  |  4/6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34440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563EB"/>
                </a:solidFill>
              </a:defRPr>
            </a:pPr>
            <a:r>
              <a:t>Temporal stage reasoning, not per-window scoring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50876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64748B"/>
                </a:solidFill>
              </a:defRPr>
            </a:pPr>
            <a:r>
              <a:t>The world model is scored on states it must imagine: burn in on observed history, then roll the prior forward with no observations and compare against what actually happened.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167128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563EB"/>
                </a:solidFill>
              </a:defRPr>
            </a:pPr>
            <a:r>
              <a:t>Benchmark hardness is itself an engineered property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441448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64748B"/>
                </a:solidFill>
              </a:defRPr>
            </a:pPr>
            <a:r>
              <a:t>The first synthetic corpus was trivially separable - one feature scored ROC-AUC 0.679 against a full model's 0.918. The generator was reworked and a test now fails the build if one feature alone becomes a classifier again.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099816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563EB"/>
                </a:solidFill>
              </a:defRPr>
            </a:pPr>
            <a:r>
              <a:t>Calibration is part of the output, not an afterthought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374136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64748B"/>
                </a:solidFill>
              </a:defRPr>
            </a:pPr>
            <a:r>
              <a:t>Thresholds are chosen on validation, isotonic recalibration is gated on a measured improvement, and conformal intervals are reported with a finite-sample coverage claim - or explicitly not offered.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032504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563EB"/>
                </a:solidFill>
              </a:defRPr>
            </a:pPr>
            <a:r>
              <a:t>Tamper-evident evidence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306824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64748B"/>
                </a:solidFill>
              </a:defRPr>
            </a:pPr>
            <a:r>
              <a:t>The alert ledger is a hash chain over forecast and evidence metadata, verified on read, with no raw traffic written.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965192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563EB"/>
                </a:solidFill>
              </a:defRPr>
            </a:pPr>
            <a:r>
              <a:t>Reproducible by construction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523951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64748B"/>
                </a:solidFill>
              </a:defRPr>
            </a:pPr>
            <a:r>
              <a:t>Versioned artifacts, train-only feature statistics, scenario-level splits, SHA-256 manifest verification, and a claims gate that fails the build if a withdrawn number reappears in a judge-facing document.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F172A"/>
                </a:solidFill>
              </a:defRPr>
            </a:pPr>
            <a:r>
              <a:t>Measured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86384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64748B"/>
                </a:solidFill>
              </a:defRPr>
            </a:pPr>
            <a:r>
              <a:t>Held-out scenarios, seed 42, scenario-level 60/20 split.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19088"/>
            <a:ext cx="11155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4748B"/>
                </a:solidFill>
              </a:defRPr>
            </a:pPr>
            <a:r>
              <a:t>SENTINEL  |  SIH26153  |  5/6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Infiltration detection - dataset synthetic-recon-lateral-v3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63040"/>
            <a:ext cx="11155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64748B"/>
                </a:solidFill>
              </a:defRPr>
            </a:pPr>
            <a:r>
              <a:t>98 features per window, 60 s windows, 30 s stride. Test split is whole scenarios the model never saw.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874519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46120" y="1874519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precision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7720" y="1874519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recall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89320" y="1874519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F1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60920" y="1874519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PR-AUC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167127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0F172A"/>
                </a:solidFill>
              </a:defRPr>
            </a:pPr>
            <a:r>
              <a:t>Logistic baseline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2167127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0F172A"/>
                </a:solidFill>
              </a:defRPr>
            </a:pPr>
            <a:r>
              <a:t>0.6346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167127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0F172A"/>
                </a:solidFill>
              </a:defRPr>
            </a:pPr>
            <a:r>
              <a:t>0.7857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89320" y="2167127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0F172A"/>
                </a:solidFill>
              </a:defRPr>
            </a:pPr>
            <a:r>
              <a:t>0.7021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60920" y="2167127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0F172A"/>
                </a:solidFill>
              </a:defRPr>
            </a:pPr>
            <a:r>
              <a:t>0.6620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2478023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0F172A"/>
                </a:solidFill>
              </a:defRPr>
            </a:pPr>
            <a:r>
              <a:t>GRU h+1 (per-horizon)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46120" y="2478023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0F172A"/>
                </a:solidFill>
              </a:defRPr>
            </a:pPr>
            <a:r>
              <a:t>0.7451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2478023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0F172A"/>
                </a:solidFill>
              </a:defRPr>
            </a:pPr>
            <a:r>
              <a:t>0.9048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89320" y="2478023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0F172A"/>
                </a:solidFill>
              </a:defRPr>
            </a:pPr>
            <a:r>
              <a:t>0.8172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60920" y="2478023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0F172A"/>
                </a:solidFill>
              </a:defRPr>
            </a:pPr>
            <a:r>
              <a:t>0.8850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3017519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World model (RSSM), test split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3337559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0F172A"/>
                </a:solidFill>
              </a:defRPr>
            </a:pPr>
            <a:r>
              <a:t>Stage prediction accuracy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26280" y="3337559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0F172A"/>
                </a:solidFill>
              </a:defRPr>
            </a:pPr>
            <a:r>
              <a:t>0.8805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3611879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0F172A"/>
                </a:solidFill>
              </a:defRPr>
            </a:pPr>
            <a:r>
              <a:t>Stage macro-F1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26280" y="3611879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0F172A"/>
                </a:solidFill>
              </a:defRPr>
            </a:pPr>
            <a:r>
              <a:t>0.8771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3886199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0F172A"/>
                </a:solidFill>
              </a:defRPr>
            </a:pPr>
            <a:r>
              <a:t>Open-loop skill vs persistence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26280" y="3886199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0F172A"/>
                </a:solidFill>
              </a:defRPr>
            </a:pPr>
            <a:r>
              <a:t>-0.0011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4160519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0F172A"/>
                </a:solidFill>
              </a:defRPr>
            </a:pPr>
            <a:r>
              <a:t>Open-loop per step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26280" y="4160519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0F172A"/>
                </a:solidFill>
              </a:defRPr>
            </a:pPr>
            <a:r>
              <a:t>-0.282, +0.122, +0.156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4434839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0F172A"/>
                </a:solidFill>
              </a:defRPr>
            </a:pPr>
            <a:r>
              <a:t>KL divergence (nats)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26280" y="4434839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0F172A"/>
                </a:solidFill>
              </a:defRPr>
            </a:pPr>
            <a:r>
              <a:t>0.0712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5806440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B45309"/>
                </a:solidFill>
              </a:defRPr>
            </a:pPr>
            <a:r>
              <a:t>Open-loop skill is 1 - model error / persistence error, so positive beats repeating the last window. A value near zero means the world model is not yet beating the trivial baseline open-loop; this is reported rather than tuned. Real-traffic (CIC-IDS2017) numbers are PENDING - the dataset is licensed and not in this repository. See docs/KNOWN_LIMITATIONS.md.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F172A"/>
                </a:solidFill>
              </a:defRPr>
            </a:pPr>
            <a:r>
              <a:t>Demo and what comes 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86384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64748B"/>
                </a:solidFill>
              </a:defRPr>
            </a:pPr>
            <a:r>
              <a:t>The path below was executed before this submission.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19088"/>
            <a:ext cx="11155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4748B"/>
                </a:solidFill>
              </a:defRPr>
            </a:pPr>
            <a:r>
              <a:t>SENTINEL  |  SIH26153  |  6/6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563EB"/>
                </a:solidFill>
              </a:defRPr>
            </a:pPr>
            <a:r>
              <a:t>Working 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508760"/>
            <a:ext cx="11155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0F172A"/>
                </a:solidFill>
              </a:defRPr>
            </a:pPr>
            <a:r>
              <a:t>uv sync --all-extras --all-groups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837944"/>
            <a:ext cx="11155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0F172A"/>
                </a:solidFill>
              </a:defRPr>
            </a:pPr>
            <a:r>
              <a:t>SENTINEL_ARTIFACTS_DIR=models/release/v1 uv run streamlit run src/sentinel/dashboard/app.py  -&gt;  http://127.0.0.1:8501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167128"/>
            <a:ext cx="11155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0F172A"/>
                </a:solidFill>
              </a:defRPr>
            </a:pPr>
            <a:r>
              <a:t>uv run python scripts/smoke_demo.py  -&gt;  seven steps through the judge path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880360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B45309"/>
                </a:solidFill>
              </a:defRPr>
            </a:pPr>
            <a:r>
              <a:t>Roadmap (not yet built)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24612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64748B"/>
                </a:solidFill>
              </a:defRPr>
            </a:pPr>
            <a:r>
              <a:t>Real-traffic evaluation on the licensed CIC-IDS2017 corpus - the cross-day forecast table is withdrawn until that run is committed.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74904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64748B"/>
                </a:solidFill>
              </a:defRPr>
            </a:pPr>
            <a:r>
              <a:t>Per-deployment benign baselines. The lateral and exfiltration rules are currently capped sub-alert without one, because an absolute byte band cannot generalise across networks.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25196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64748B"/>
                </a:solidFill>
              </a:defRPr>
            </a:pPr>
            <a:r>
              <a:t>True cross-window sequence prediction. The current component is an intra-window co-occurrence heuristic, despite its name.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512064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64748B"/>
                </a:solidFill>
              </a:defRPr>
            </a:pPr>
            <a:r>
              <a:t>Every number in this deck is read from the checksummed release bundle at build time, not typed into the generator. If a figure is unavailable the slide prints PENDING. The withdrawn real-data table is not shown anywhere in this deck.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