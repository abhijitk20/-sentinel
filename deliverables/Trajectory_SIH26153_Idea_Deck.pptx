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2ED3B7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73152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0" b="1">
                <a:solidFill>
                  <a:srgbClr val="EEF2F8"/>
                </a:solidFill>
                <a:latin typeface="Calibri"/>
              </a:rPr>
              <a:t>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03120"/>
            <a:ext cx="71323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0">
                <a:solidFill>
                  <a:srgbClr val="EEF2F8"/>
                </a:solidFill>
                <a:latin typeface="Calibri"/>
              </a:rPr>
              <a:t>AI-Based Network Attack Forecasting from Network Traffic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926080"/>
            <a:ext cx="694944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9FACC2"/>
                </a:solidFill>
                <a:latin typeface="Calibri"/>
              </a:rPr>
              <a:t>An offline, explainable temporal cyber-defence system that forecasts likely attack progression before compromise is complete.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Network Telemetry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Current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4216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Future Forecast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15584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Earlier 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56816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58184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59552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55279" y="914400"/>
            <a:ext cx="3840480" cy="4663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02412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20700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SIH26153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151790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39" y="1700784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AI based Network Attack Forecasting from Network Traffic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39" y="219456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ORGANIZATION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39" y="237744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National Technical Research Organisation (NTRO)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39" y="2871216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39" y="3054096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Blockchain &amp; Cybersecurity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39" y="3364992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PS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39" y="3547872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39" y="385876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39" y="404164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ID]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435254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4535424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NAME]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39" y="484632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INSTITUTE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39" y="502920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INSTITUTE NAME]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Forecasts are probabilities with evidence; Trajectory supports analyst decisions and does not block traffic.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Solution Overview &amp;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From static alerts to predictive attack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2/6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722376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EEF2F8"/>
                </a:solidFill>
                <a:latin typeface="Calibri"/>
              </a:rPr>
              <a:t>Trajectory ingests flow CSV and PCAP-derived packet data, converts them into ordered network states, and forecasts likely attack progression over K future windows: risk, predicted stage, affected assets, confidence and supporting evidence in an offline analyst dashboard (Web/desktop).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Load CSV flows / PCAP captures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Risk timeline over time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Next likely stage + affected assets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behind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Predicted vs actual replay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Incident Responder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Prioritize hosts/segments at risk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Confidence + insufficient-evidence flags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Decision support, not auto-blocking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Export reproducible forecast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94376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85816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Lead /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model vs logistic baseline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Precision, recall, F1, FPR, calibration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Deterministic, seed-fixed replay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Fully local; no cloud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4B860"/>
                </a:solidFill>
                <a:latin typeface="Calibri"/>
              </a:rPr>
              <a:t>Project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Phase: ingestion + temporal-data foundation done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CSV &amp; PCAP ingestion, flow + packet features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Timestamped overlapping state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Transition targets, leakage-safe splits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15 tests passing; baseline model is next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7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7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Why We Stand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7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Predictive, not retrospective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K-step future-state simulation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context instead of per-flow labels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+ assets with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Offline-first; honest baseline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005840"/>
            <a:ext cx="393192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PROTOTYPE VISUALS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37160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0" y="14173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1. Data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171907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CSV/PCAP input  |  event count, time range  |  feature-coverage indicators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42316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46888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2. Forecast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7063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Risk over K windows  |  Current / Forecast / Actual replay  |  stage + confidence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47472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35204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3. Evidence 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82219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Driving features  |  Server-03, failed-auth burst, destination diversity  |  source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572000"/>
            <a:ext cx="3931920" cy="17373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46177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F4B860"/>
                </a:solidFill>
                <a:latin typeface="Calibri"/>
              </a:rPr>
              <a:t>ILLUSTRATIVE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4892040"/>
            <a:ext cx="3749040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Current state: Suspicious reconnaissance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Predicted stage: Lateral movement  (+3 windows)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Likely asset: Server-03      Confidence: 0.72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Evidence: failed-auth burst, new internal connections, rising destination diversity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Replace mockup panels with screenshots and the illustrative output with model output before submission.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Backend Architecture &amp;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Local, reproducible, evidence-first forecasting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3/6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4300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Flow CSV  |  PCAP captures  -&gt;  normalization + packet feature 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7452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87452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Unified events -&gt; timestamped windows -&gt; state store  |  labels, transition targets, split manifests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6032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0604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0604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Logistic Regression baseline (current window)  |  GRU/LSTM temporal model + K-step rollout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29184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3756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3756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Risk timeline  |  attack stage  |  assets  |  evidence  |  confidence + warnings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02336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06908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Offline analyst dashboard (Streamlit/Flask + Plotly)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84632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91947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&amp; Privacy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256032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Local-first; no external AI service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Anonymized identifiers in demos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No secrets/captures committed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Provenance, versions, checksums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Human-in-the-loop; no auto-blocking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846320"/>
            <a:ext cx="2788920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491947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Input Fallback Logic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285232"/>
            <a:ext cx="260604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PCAP -&gt; flow + packet features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CSV only -&gt; flow features + packet-coverage warning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Data missing -&gt; validation error, no fabricated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All paths run offline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TECHNICAL APPROACH 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Ingest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2793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Normalize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6227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Window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49661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Prepare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39913" y="16002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53346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366780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09360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Learn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2793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Simulate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36227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Explain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49661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Display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39913" y="22860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346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366780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09360" y="2606040"/>
            <a:ext cx="5470855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Security lead configures scenario &amp; evaluation  -&gt;  Analyst loads telemetry &amp; inspects forecast  -&gt;  Responder validates evidence &amp; 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10896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AI COMPONENTS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309360" y="3429000"/>
          <a:ext cx="547085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713"/>
                <a:gridCol w="1709642"/>
                <a:gridCol w="2393499"/>
              </a:tblGrid>
              <a:tr h="41801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Technique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Function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Static baseline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Logistic Regression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Fair reference from the current window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forecaster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GRU / LSTM (proposed)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Learn dependencies across ordered states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Future simulation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K-step rollout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Likely future states, risk trajectory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Stage mapping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rules / classifier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MITRE ATT&amp;CK-oriented stage label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Explanation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 + event retrieval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Driving features and traffic evidence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Calibration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Reliability analysis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Useful confidence values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No Kafka/cloud gateway/microservices are claimed: the prototype runs on local files and model artifacts. Docker only if packaged before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Feasibility, Viability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Feasible with open data, local compute and controlled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4/6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Technical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Public flow &amp; PCAP datasets available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parsers + ML frameworks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GRU/LSTM practical on dev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Scenario-safe splits, baseline defined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Runs beside IDS / SIEM / EDR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Analyst owns response decisions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Deterministic replay for demos &amp;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Local processing for sensitive sites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stack, low prototype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Software-only MVP, no custom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Augments existing tools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Pilot-first phased adoption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Regulatory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Synthetic / public / anonymized demo 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Licences &amp; access restrictions recorded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Captures and model artifacts stay local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Human approval; no autonomous enforcement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29200"/>
            <a:ext cx="5687568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420" y="5623269"/>
            <a:ext cx="625632" cy="320331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04934" y="5584830"/>
            <a:ext cx="625632" cy="35877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48993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2447" y="5543186"/>
            <a:ext cx="625632" cy="400414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86507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9961" y="5495137"/>
            <a:ext cx="625632" cy="448463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402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7474" y="5440680"/>
            <a:ext cx="625632" cy="50292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1534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074920"/>
            <a:ext cx="5687568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2ED3B7"/>
                </a:solidFill>
                <a:latin typeface="Calibri"/>
              </a:rPr>
              <a:t>Market growth (illustrative shape)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46520"/>
            <a:ext cx="5687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CAGR: [ADD VERIFIED VALUE]%   Source: [ADD REPORT, PUBLISHER, YEAR, URL]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CHALLENGES  -&gt;  TECHNICAL RESPONSES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309360" y="1325880"/>
          <a:ext cx="547085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799"/>
                <a:gridCol w="3556055"/>
              </a:tblGrid>
              <a:tr h="38238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Challenge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Technical response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Rare, imbalanced attacks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Class weighting, per-class metrics, PR analysis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leakage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Scenario / campaign / time-held-out evaluation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Dataset shift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Secondary-dataset tests, per-site recalibration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Missing packet features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Coverage report + reduced-context warning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forecast drift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Short K horizon, calibration, uncertainty display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Ambiguous stage labels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mapping; insufficient-evidence state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False-positive fatigue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Baseline comparison, threshold tuning, FPR reporting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Black-box predictions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Attribution, source-event evidence, asset context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Sensitive telemetry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Local processing, anonymization, restricted artifacts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9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Enterprise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File-based MVP first; adapters/APIs later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309360" y="5623560"/>
            <a:ext cx="5470855" cy="7315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650992"/>
            <a:ext cx="5287975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Viability: feasible as an offline prototype on public datasets and open-source tools. Production use needs environment-specific validation, integration, calibration, access control and security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Chart shape is illustrative until a verified market source is inserted; state geography and product scope with the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Impacts, Benefits &amp; Stakeholder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Earlier, evidence-backed decisions can reduce attack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5/6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Analyst time on likely paths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Less manual correlation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Earlier intervention, lower downtime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stack replacement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Resilient public services &amp; CII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Clearer incident context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Humans keep the decision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Accountable AI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Environmental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Runs on ordinary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Reuses existing telemetry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mandatory cloud transfer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Software-only, no devices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Forecast before next stage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Stage + asset + horizon + evidence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Repeatable replay for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Layer on existing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291840"/>
            <a:ext cx="75895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SAMPLE SCENARIO: RECONNAISSANCE -&gt; LATERAL MOVEMENT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Workstation-17 contacts many new destinations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2302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Trajectory correlates recon + failed-auth burst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13124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SOC analyst: early forecast toward Server-03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3947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Responder validates evidence, acts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769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Security lead audits forecast vs outcome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97710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48532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99354" y="4114800"/>
            <a:ext cx="164593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50177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1480" y="4663440"/>
            <a:ext cx="7589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Success criteria: forecast appears before the target stage is observable; evidence names real patterns and entities; predicted vs actual are visually distinct; replay is reproducible from the same configuration.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00584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SUSTAINABLE DEVELOPMENT GOALS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32588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132588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Industry, Innovation &amp; 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160020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Resilience of digital and critical infrastructure via predictive security analytics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33172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33172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Peace, Justice &amp; Strong Institutions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60604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Safer digital public systems; accountable, evidence-backed security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33756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9FACC2"/>
                </a:solidFill>
                <a:latin typeface="Calibri"/>
              </a:rPr>
              <a:t>Use official icons only where template/UN guidance permits.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166360"/>
            <a:ext cx="11368735" cy="1234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3657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QUANTITATIVE TARGET 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13832"/>
            <a:ext cx="5669280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Forecast lead time = t(target stage observable) - t(warning threshold crossed)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Time saved / incident = mean investigation time (current) - mean time with evidence panel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Analyst-hours recovered / year = valid incidents per year x time saved per incident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5513832"/>
            <a:ext cx="5333695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X] min median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Y]% investigation-time reduction (controlled user test)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Z] analyst-hours recovered / year  |  basis: [ADD DATASET / SCENARIOS / METHOD]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Do not convert model accuracy into financial savings without an explicit operational assumption.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Research, Market Sizing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Research-backed; scalable from offline pilot to enterprise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6/6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Official &amp; 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393192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SIH 2026 PS: sih.gov.in/sih2026PS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MITRE ATT&amp;CK: attack.mitre.org  |  CAPEC: capec.mitre.org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NVD: nvd.nist.gov  |  NCIIPC: nciipc.gov.in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06040"/>
            <a:ext cx="411480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7919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44952"/>
            <a:ext cx="39319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CIC-IDS2017/2018, UNSW-NB15, CTU-13, CICIoT2023, LANL auth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URLs: [ADD VERIFIED DATASET URLS]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Only with documented licence, access, checksums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023360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9651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AI / ML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62272"/>
            <a:ext cx="393192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GRU/LSTM sequence forecasting; recursive multi-step + uncertainty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Calibration; feature attribution / XAI; scenario-held-out IDS evaluation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Papers: [ADD 2-4 AUTHOR, TITLE, VENUE, YEAR, DOI]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30352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37667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42432"/>
            <a:ext cx="393192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PyTorch  |  scikit-learn  |  Scapy  |  NetworkX  |  Plotly  |  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00584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MARKET SIZING (BOTTOM-UP)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63440" y="1325880"/>
          <a:ext cx="356615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877"/>
                <a:gridCol w="1913549"/>
                <a:gridCol w="1130733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Tier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Definition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Estimate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TAM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Orgs with network-security teams in target geography x annual value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N1 x A = TAM]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SAM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Reachable with offline product + supported integrations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N2 x A = SAM]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SOM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Realistic customers in first 3 years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N3 x A = SOM]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663440" y="3291840"/>
            <a:ext cx="356616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9FACC2"/>
                </a:solidFill>
                <a:latin typeface="Calibri"/>
              </a:rPr>
              <a:t>State: geography &amp; sectors, org-count source, scope of annual value, adoption rationale, tax/support inclusion.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3192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REVENUE &amp; HARDWARE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663440" y="4251960"/>
          <a:ext cx="3566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97280"/>
                <a:gridCol w="128016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Unit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Pricing basis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Platform licence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org / env / year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VALIDATED PRICE]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Deployment &amp;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One-time per env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sources + SIEM effort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Model 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env / telemetry change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prep + threshold tuning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Support &amp; updates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Annual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% of licence or tier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Hardware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Not required for MVP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Customer workstation/server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8366760" y="1097280"/>
            <a:ext cx="3413455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143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FIRST-YEAR REVENUE (ESTIMATE)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1463040"/>
            <a:ext cx="3230575" cy="1737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Licences   [ADD L] x Rs[licence]   = Rs[R1]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Deploys    [ADD D] x Rs[deploy]    = Rs[R2]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Support    [ADD S] x Rs[support]   = Rs[R3]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Training   [ADD T] x Rs[training]  = Rs[R4]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--------------------------------------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Total (business estimate) = Rs[ADD TOTAL]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383280"/>
            <a:ext cx="3413455" cy="29260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3429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PROOF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749039"/>
            <a:ext cx="3230575" cy="2514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Source repo: [ADD GITHUB URL]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Architecture: ARCHITECTURE.md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Status: IMPLEMENTATION_STATUS.md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Evaluation report: [ADD LINK AFTER BENCHMARKS]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Demo video: [ADD FINAL VIDEO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Consolidated research: [ADD FOLDER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Reproducibility: README.md + uv.lock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Trajectory adds a predictive layer to existing cyber defence: what may happen next, where, and why the analyst should look.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Live Demo — Watch the AI Detect an Attack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Real-time detection on a localhost attack simulation; deterministic and rehearsed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7/6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Stage Storyline (measured in rehearsal)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5212080" cy="3703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0:00 — Train the models live (~3 seconds, deterministic seed)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0:10 — Press Start: benign chatter begins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0:19 — Quiet window: P(infiltration) = 0.12, no false alarms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0:34 — ALERT: scan burst detected at P = 0.99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         Stage: Initial Access — MITRE ATT&amp;CK TA0001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0:49 — Failed logins: P = 1.00, evidence panel grows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1:04 — ESCALATION: Lateral Movement — MITRE TA0008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Same trained artifacts as the offline benchmark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Sources: demo attack, CIC-IDS2017 replay, live capture</a:t>
            </a:r>
          </a:p>
        </p:txBody>
      </p:sp>
      <p:pic>
        <p:nvPicPr>
          <p:cNvPr id="9" name="Picture 8" descr="frame_0_t19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143000"/>
            <a:ext cx="2377440" cy="13373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645920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t=19s — benign, P=0.12</a:t>
            </a:r>
          </a:p>
        </p:txBody>
      </p:sp>
      <p:pic>
        <p:nvPicPr>
          <p:cNvPr id="11" name="Picture 10" descr="frame_1_t34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560320"/>
            <a:ext cx="2377440" cy="1337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58200" y="3063240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t=34s — ALERT, P=0.99</a:t>
            </a:r>
          </a:p>
        </p:txBody>
      </p:sp>
      <p:pic>
        <p:nvPicPr>
          <p:cNvPr id="13" name="Picture 12" descr="frame_3_t64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2377440" cy="13373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8200" y="4480559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t=64s — Lateral Movement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Backup if live infra fails: deliverables/backup_demo/backup_demo.gif (animated) — same numbers as the live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