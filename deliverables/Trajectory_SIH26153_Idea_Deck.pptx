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2ED3B7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05840"/>
            <a:ext cx="73152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0" b="1">
                <a:solidFill>
                  <a:srgbClr val="EEF2F8"/>
                </a:solidFill>
                <a:latin typeface="Calibri"/>
              </a:rPr>
              <a:t>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03120"/>
            <a:ext cx="713232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0">
                <a:solidFill>
                  <a:srgbClr val="EEF2F8"/>
                </a:solidFill>
                <a:latin typeface="Calibri"/>
              </a:rPr>
              <a:t>AI-Based Network Attack Forecasting from Network Traffic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926080"/>
            <a:ext cx="694944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9FACC2"/>
                </a:solidFill>
                <a:latin typeface="Calibri"/>
              </a:rPr>
              <a:t>An offline, explainable temporal cyber-defence system that forecasts likely attack progression before compromise is complete.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Network Telemetry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12848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Current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4216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Future Forecast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15584" y="4023360"/>
            <a:ext cx="1545336" cy="7315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EEF2F8"/>
                </a:solidFill>
              </a:rPr>
              <a:t>Earlier Response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56816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58184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59552" y="4389120"/>
            <a:ext cx="25603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55279" y="914400"/>
            <a:ext cx="3840480" cy="46634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39" y="1024128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PROBLEM STATEMENT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39" y="1207008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SIH26153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39" y="1517904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PROBLEM STATEMENT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39" y="1700784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AI based Network Attack Forecasting from Network Traffic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39" y="2194560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ORGANIZATION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39" y="2377440"/>
            <a:ext cx="35661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National Technical Research Organisation (NTRO)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39" y="2871216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THEME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39" y="3054096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Blockchain &amp; Cybersecurity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39" y="3364992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PS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39" y="3547872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EF2F8"/>
                </a:solidFill>
                <a:latin typeface="Calibri"/>
              </a:rPr>
              <a:t>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39" y="3858768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TEAM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39" y="4041648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TEAM ID]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4352544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TEAM 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4535424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TEAM NAME]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39" y="4846320"/>
            <a:ext cx="3566160" cy="20116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2ED3B7"/>
                </a:solidFill>
                <a:latin typeface="Calibri"/>
              </a:rPr>
              <a:t>INSTITUTE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39" y="502920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D166"/>
                </a:solidFill>
                <a:latin typeface="Calibri"/>
              </a:rPr>
              <a:t>[ADD OFFICIAL INSTITUTE NAME]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Forecasts are probabilities with evidence; Trajectory supports analyst decisions and does not block traffic.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Solution Overview &amp;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From static alerts to predictive attack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2/6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722376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EEF2F8"/>
                </a:solidFill>
                <a:latin typeface="Calibri"/>
              </a:rPr>
              <a:t>Trajectory ingests flow CSV and PCAP-derived packet data, converts them into ordered network states, and forecasts likely attack progression over K future windows: risk, predicted stage, affected assets, confidence and supporting evidence in an offline analyst dashboard (Web/desktop).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SOC 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Load CSV flows / PCAP captures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Risk timeline over time windows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Next likely stage + affected assets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Evidence behind every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Predicted vs actual replay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Incident Responder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Prioritize hosts/segments at risk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Confidence + insufficient-evidence flags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Decision support, not auto-blocking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Export reproducible forecast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94376" y="1920240"/>
            <a:ext cx="2331720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85816" y="1993392"/>
            <a:ext cx="2148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Security Lead / 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6" y="2359152"/>
            <a:ext cx="2148840" cy="1645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Temporal model vs logistic baseline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Precision, recall, F1, FPR, calibration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Forecast lead time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Deterministic, seed-fixed replay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Fully local; no cloud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20624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7939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4B860"/>
                </a:solidFill>
                <a:latin typeface="Calibri"/>
              </a:rPr>
              <a:t>Project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45152"/>
            <a:ext cx="3383280" cy="1600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Phase: ingestion + temporal-data foundation done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CSV &amp; PCAP ingestion, flow + packet features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Timestamped overlapping state windows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Transition targets, leakage-safe splits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15 tests passing; baseline model is next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87367" y="4206240"/>
            <a:ext cx="3566160" cy="21031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7" y="4279392"/>
            <a:ext cx="33832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Why We Stand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7" y="4645152"/>
            <a:ext cx="3383280" cy="1600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Predictive, not retrospective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K-step future-state simulation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Temporal context instead of per-flow labels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Evidence + assets with every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• Offline-first; honest baseline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1005840"/>
            <a:ext cx="393192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PROTOTYPE VISUALS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37160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0" y="141732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1. Data Workspace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171907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CSV/PCAP input  |  event count, time range  |  feature-coverage indicators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42316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0" y="246888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2. Forecast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77063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Risk over K windows  |  Current / Forecast / Actual replay  |  stage + confidence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474720"/>
            <a:ext cx="3931920" cy="96012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0" y="35204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EEF2F8"/>
                </a:solidFill>
                <a:latin typeface="Calibri"/>
              </a:rPr>
              <a:t>3. Evidence 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0" y="3822192"/>
            <a:ext cx="374904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Driving features  |  Server-03, failed-auth burst, destination diversity  |  source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572000"/>
            <a:ext cx="3931920" cy="173736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0" y="461772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F4B860"/>
                </a:solidFill>
                <a:latin typeface="Calibri"/>
              </a:rPr>
              <a:t>ILLUSTRATIVE 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4892040"/>
            <a:ext cx="3749040" cy="1417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Current state: Suspicious reconnaissance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Predicted stage: Lateral movement  (+3 windows)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Likely asset: Server-03      Confidence: 0.72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onsolas"/>
              </a:rPr>
              <a:t>Evidence: failed-auth burst, new internal connections, rising destination diversity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Replace mockup panels with screenshots and the illustrative output with model output before submission.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Backend Architecture &amp;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Local, reproducible, evidence-first forecasting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3/6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4300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Flow CSV  |  PCAP captures  -&gt;  normalization + packet feature extraction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7452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87452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Unified events -&gt; timestamped windows -&gt; state store  |  labels, transition targets, split manifests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6032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0604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60604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Logistic Regression baseline (current window)  |  GRU/LSTM temporal model + K-step rollout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29184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3756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33756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Risk timeline  |  attack stage  |  assets  |  evidence  |  confidence + warnings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023360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005840" cy="5486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069080"/>
            <a:ext cx="4480560" cy="56692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EF2F8"/>
                </a:solidFill>
                <a:latin typeface="Calibri"/>
              </a:rPr>
              <a:t>Offline analyst dashboard (Streamlit/Flask + Plotly)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846320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919472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Security &amp; Privacy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85232"/>
            <a:ext cx="256032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Local-first; no external AI service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Anonymized identifiers in demos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No secrets/captures committed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Provenance, versions, checksums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Human-in-the-loop; no auto-blocking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846320"/>
            <a:ext cx="2788920" cy="16002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491947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Input Fallback Logic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285232"/>
            <a:ext cx="260604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PCAP -&gt; flow + packet features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CSV only -&gt; flow features + packet-coverage warning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Data missing -&gt; validation error, no fabricated forecast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All paths run offline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100584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TECHNICAL APPROACH 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Ingest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2793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Normalize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6227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Window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49661" y="13258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Prepare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39913" y="1600200"/>
            <a:ext cx="182880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953346" y="16002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366780" y="16002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09360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Learn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22793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Simulate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36227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Explain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49661" y="2011680"/>
            <a:ext cx="1230553" cy="5486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EF2F8"/>
                </a:solidFill>
              </a:rPr>
              <a:t>Display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39913" y="2286000"/>
            <a:ext cx="182880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346" y="22860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366780" y="2286000"/>
            <a:ext cx="182881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09360" y="2606040"/>
            <a:ext cx="5470855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Security lead configures scenario &amp; evaluation  -&gt;  Analyst loads telemetry &amp; inspects forecast  -&gt;  Responder validates evidence &amp; acts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10896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AI COMPONENTS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309360" y="3429000"/>
          <a:ext cx="547085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713"/>
                <a:gridCol w="1709642"/>
                <a:gridCol w="2393499"/>
              </a:tblGrid>
              <a:tr h="418011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Technique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Function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Static baseline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Logistic Regression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Fair reference from the current window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Temporal forecaster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GRU / LSTM (proposed)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Learn dependencies across ordered states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Future simulation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Recursive K-step rollout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Likely future states, risk trajectory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Stage mapping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Documented rules / classifier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MITRE ATT&amp;CK-oriented stage label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Explanation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Attribution + event retrieval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Driving features and traffic evidence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1801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Calibration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Reliability analysis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Useful confidence values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45" name="TextBox 4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No Kafka/cloud gateway/microservices are claimed: the prototype runs on local files and model artifacts. Docker only if packaged before submission.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Feasibility, Viability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Feasible with open data, local compute and controlled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4/6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Technical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Public flow &amp; PCAP datasets available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Open-source parsers + ML frameworks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GRU/LSTM practical on dev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Scenario-safe splits, baseline defined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0128" y="10972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1170432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Operational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536192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Runs beside IDS / SIEM / EDR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Analyst owns response decisions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Deterministic replay for demos &amp; audit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Local processing for sensitive sites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035808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Economic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74720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Open-source stack, low prototype cost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Software-only MVP, no custom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Augments existing tools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Pilot-first phased adoption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0128" y="3035808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3108960"/>
            <a:ext cx="26060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Regulatory &amp; Privacy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474720"/>
            <a:ext cx="2606040" cy="13258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Synthetic / public / anonymized demo data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Licences &amp; access restrictions recorded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Captures and model artifacts stay local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Human approval; no autonomous enforcement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029200"/>
            <a:ext cx="5687568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7420" y="5623269"/>
            <a:ext cx="625632" cy="320331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Base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04934" y="5584830"/>
            <a:ext cx="625632" cy="358770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48993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42447" y="5543186"/>
            <a:ext cx="625632" cy="400414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86507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79961" y="5495137"/>
            <a:ext cx="625632" cy="448463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24020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7474" y="5440680"/>
            <a:ext cx="625632" cy="502920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61534" y="5961888"/>
            <a:ext cx="1137513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Y+4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074920"/>
            <a:ext cx="5687568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2ED3B7"/>
                </a:solidFill>
                <a:latin typeface="Calibri"/>
              </a:rPr>
              <a:t>Market growth (illustrative shape)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46520"/>
            <a:ext cx="5687568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CAGR: [ADD VERIFIED VALUE]%   Source: [ADD REPORT, PUBLISHER, YEAR, URL]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1005840"/>
            <a:ext cx="54708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CHALLENGES  -&gt;  TECHNICAL RESPONSES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309360" y="1325880"/>
          <a:ext cx="5470854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799"/>
                <a:gridCol w="3556055"/>
              </a:tblGrid>
              <a:tr h="38238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Challenge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ED3B7"/>
                          </a:solidFill>
                        </a:rPr>
                        <a:t>Technical response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Rare, imbalanced attacks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Class weighting, per-class metrics, PR analysis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Temporal leakage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Scenario / campaign / time-held-out evaluation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Dataset shift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Secondary-dataset tests, per-site recalibration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Missing packet features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Coverage report + reduced-context warning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Recursive forecast drift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Short K horizon, calibration, uncertainty display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Ambiguous stage labels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Documented mapping; insufficient-evidence state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False-positive fatigue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Baseline comparison, threshold tuning, FPR reporting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Black-box predictions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Attribution, source-event evidence, asset context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82385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Sensitive telemetry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Local processing, anonymization, restricted artifacts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8239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Enterprise integration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EEF2F8"/>
                          </a:solidFill>
                        </a:rPr>
                        <a:t>File-based MVP first; adapters/APIs later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309360" y="5623560"/>
            <a:ext cx="5470855" cy="7315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650992"/>
            <a:ext cx="5287975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9FACC2"/>
                </a:solidFill>
                <a:latin typeface="Calibri"/>
              </a:rPr>
              <a:t>Viability: feasible as an offline prototype on public datasets and open-source tools. Production use needs environment-specific validation, integration, calibration, access control and security review.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Chart shape is illustrative until a verified market source is inserted; state geography and product scope with the figure.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Impacts, Benefits &amp; Stakeholder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Earlier, evidence-backed decisions can reduce attack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5/6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Economic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Analyst time on likely paths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Less manual correlation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Earlier intervention, lower downtime cost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No stack replacement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Resilient public services &amp; CII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Clearer incident context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Humans keep the decision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Accountable AI 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Environmental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Runs on ordinary hardware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Reuses existing telemetry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No mandatory cloud transfer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Software-only, no devices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097280"/>
            <a:ext cx="1828800" cy="20574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170432"/>
            <a:ext cx="1645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Operational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36192"/>
            <a:ext cx="1645920" cy="1554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Forecast before next stage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Stage + asset + horizon + evidence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Repeatable replay for audit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Layer on existing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291840"/>
            <a:ext cx="75895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SAMPLE SCENARIO: RECONNAISSANCE -&gt; LATERAL MOVEMENT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Workstation-17 contacts many new destinations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2302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Trajectory correlates recon + failed-auth burst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13124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SOC analyst: early forecast toward Server-03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3947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Responder validates evidence, acts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4769" y="3611880"/>
            <a:ext cx="1386230" cy="1005840"/>
          </a:xfrm>
          <a:prstGeom prst="roundRect">
            <a:avLst>
              <a:gd name="adj" fmla="val 6000"/>
            </a:avLst>
          </a:prstGeom>
          <a:solidFill>
            <a:srgbClr val="1B2844"/>
          </a:solidFill>
          <a:ln w="12700">
            <a:solidFill>
              <a:srgbClr val="2ED3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EEF2F8"/>
                </a:solidFill>
              </a:rPr>
              <a:t>Security lead audits forecast vs outcome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97710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348532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99354" y="4114800"/>
            <a:ext cx="164593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50177" y="4114800"/>
            <a:ext cx="164592" cy="0"/>
          </a:xfrm>
          <a:prstGeom prst="line">
            <a:avLst/>
          </a:prstGeom>
          <a:ln w="25400">
            <a:solidFill>
              <a:srgbClr val="2ED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11480" y="4663440"/>
            <a:ext cx="7589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Success criteria: forecast appears before the target stage is observable; evidence names real patterns and entities; predicted vs actual are visually distinct; replay is reproducible from the same configuration.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1005840"/>
            <a:ext cx="35506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SUSTAINABLE DEVELOPMENT GOALS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1325880"/>
            <a:ext cx="822960" cy="822960"/>
          </a:xfrm>
          <a:prstGeom prst="roundRect">
            <a:avLst>
              <a:gd name="adj" fmla="val 6000"/>
            </a:avLst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00">
                <a:solidFill>
                  <a:srgbClr val="0B1220"/>
                </a:solidFill>
              </a:rPr>
              <a:t>SDG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1325880"/>
            <a:ext cx="26362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EF2F8"/>
                </a:solidFill>
                <a:latin typeface="Calibri"/>
              </a:rPr>
              <a:t>Industry, Innovation &amp; Infrastructure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1600200"/>
            <a:ext cx="2636215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Resilience of digital and critical infrastructure via predictive security analytics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0" y="2331720"/>
            <a:ext cx="822960" cy="822960"/>
          </a:xfrm>
          <a:prstGeom prst="roundRect">
            <a:avLst>
              <a:gd name="adj" fmla="val 6000"/>
            </a:avLst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200">
                <a:solidFill>
                  <a:srgbClr val="0B1220"/>
                </a:solidFill>
              </a:rPr>
              <a:t>SDG 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331720"/>
            <a:ext cx="26362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EEF2F8"/>
                </a:solidFill>
                <a:latin typeface="Calibri"/>
              </a:rPr>
              <a:t>Peace, Justice &amp; Strong Institutions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606040"/>
            <a:ext cx="2636215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Safer digital public systems; accountable, evidence-backed security 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337560"/>
            <a:ext cx="355061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9FACC2"/>
                </a:solidFill>
                <a:latin typeface="Calibri"/>
              </a:rPr>
              <a:t>Use official icons only where template/UN guidance permits.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5166360"/>
            <a:ext cx="11368735" cy="12344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12080"/>
            <a:ext cx="3657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QUANTITATIVE TARGET IMPACT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13832"/>
            <a:ext cx="5669280" cy="868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Forecast lead time = t(target stage observable) - t(warning threshold crossed)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Time saved / incident = mean investigation time (current) - mean time with evidence panel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Analyst-hours recovered / year = valid incidents per year x time saved per incident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5513832"/>
            <a:ext cx="5333695" cy="868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X] min median forecast lead time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Y]% investigation-time reduction (controlled user test)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[ADD Z] analyst-hours recovered / year  |  basis: [ADD DATASET / SCENARIOS / METHOD]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Do not convert model accuracy into financial savings without an explicit operational assumption.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Research, Market Sizing &amp;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Research-backed; scalable from offline pilot to enterprise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6/6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Official &amp; Domain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393192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SIH 2026 PS: sih.gov.in/sih2026PS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MITRE ATT&amp;CK: attack.mitre.org  |  CAPEC: capec.mitre.org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NVD: nvd.nist.gov  |  NCIIPC: nciipc.gov.in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06040"/>
            <a:ext cx="4114800" cy="13258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7919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Datasets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44952"/>
            <a:ext cx="393192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CIC-IDS2017/2018, UNSW-NB15, CTU-13, CICIoT2023, LANL auth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• URLs: [ADD VERIFIED DATASET URLS]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Only with documented licence, access, checksums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023360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9651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AI / ML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62272"/>
            <a:ext cx="393192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GRU/LSTM sequence forecasting; recursive multi-step + uncertainty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Calibration; feature attribution / XAI; scenario-held-out IDS evaluation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alibri"/>
              </a:rPr>
              <a:t>• Papers: [ADD 2-4 AUTHOR, TITLE, VENUE, YEAR, DOI]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303520"/>
            <a:ext cx="4114800" cy="1005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376672"/>
            <a:ext cx="39319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742432"/>
            <a:ext cx="393192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alibri"/>
              </a:rPr>
              <a:t>• PyTorch  |  scikit-learn  |  Scapy  |  NetworkX  |  Plotly  |  Streamlit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00584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MARKET SIZING (BOTTOM-UP)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63440" y="1325880"/>
          <a:ext cx="356615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877"/>
                <a:gridCol w="1913549"/>
                <a:gridCol w="1130733"/>
              </a:tblGrid>
              <a:tr h="48006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Tier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Definition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Estimate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TAM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Orgs with network-security teams in target geography x annual value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N1 x A = TAM]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SAM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Reachable with offline product + supported integrations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N2 x A = SAM]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SOM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Realistic customers in first 3 years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N3 x A = SOM]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663440" y="3291840"/>
            <a:ext cx="356616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9FACC2"/>
                </a:solidFill>
                <a:latin typeface="Calibri"/>
              </a:rPr>
              <a:t>State: geography &amp; sectors, org-count source, scope of annual value, adoption rationale, tax/support inclusion.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31920"/>
            <a:ext cx="35661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REVENUE &amp; HARDWARE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663440" y="4251960"/>
          <a:ext cx="35661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97280"/>
                <a:gridCol w="128016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Unit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ED3B7"/>
                          </a:solidFill>
                        </a:rPr>
                        <a:t>Pricing basis</a:t>
                      </a:r>
                    </a:p>
                  </a:txBody>
                  <a:tcPr marL="54864" marR="54864" marT="27432" marB="27432">
                    <a:solidFill>
                      <a:srgbClr val="1B28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Platform licence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Per org / env / year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FFD166"/>
                          </a:solidFill>
                        </a:rPr>
                        <a:t>[ADD VALIDATED PRICE]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Deployment &amp; integration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One-time per env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Data sources + SIEM effort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Model calibration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Per env / telemetry change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Data prep + threshold tuning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Support &amp; updates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Annual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% of licence or tier</a:t>
                      </a:r>
                    </a:p>
                  </a:txBody>
                  <a:tcPr marL="54864" marR="54864" marT="27432" marB="27432">
                    <a:solidFill>
                      <a:srgbClr val="0B1220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Hardware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Not required for MVP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EEF2F8"/>
                          </a:solidFill>
                        </a:rPr>
                        <a:t>Customer workstation/server</a:t>
                      </a:r>
                    </a:p>
                  </a:txBody>
                  <a:tcPr marL="54864" marR="54864" marT="27432" marB="27432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8366760" y="1097280"/>
            <a:ext cx="3413455" cy="21488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143000"/>
            <a:ext cx="34134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FIRST-YEAR REVENUE (ESTIMATE)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1463040"/>
            <a:ext cx="3230575" cy="1737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Licences   [ADD L] x Rs[licence]   = Rs[R1]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Deploys    [ADD D] x Rs[deploy]    = Rs[R2]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Support    [ADD S] x Rs[support]   = Rs[R3]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Training   [ADD T] x Rs[training]  = Rs[R4]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EEF2F8"/>
                </a:solidFill>
                <a:latin typeface="Consolas"/>
              </a:rPr>
              <a:t>--------------------------------------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FFD166"/>
                </a:solidFill>
                <a:latin typeface="Consolas"/>
              </a:rPr>
              <a:t>Total (business estimate) = Rs[ADD TOTAL]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383280"/>
            <a:ext cx="3413455" cy="292608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3429000"/>
            <a:ext cx="341345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ED3B7"/>
                </a:solidFill>
                <a:latin typeface="Calibri"/>
              </a:rPr>
              <a:t>PROOF DOCUMENTS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749039"/>
            <a:ext cx="3230575" cy="2514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Source repo: [ADD GITHUB URL]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Architecture: ARCHITECTURE.md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Status: IMPLEMENTATION_STATUS.md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Evaluation report: [ADD LINK AFTER BENCHMARKS]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Demo video: [ADD FINAL VIDEO LINK]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FFD166"/>
                </a:solidFill>
                <a:latin typeface="Calibri"/>
              </a:rPr>
              <a:t>• Consolidated research: [ADD FOLDER LINK]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EEF2F8"/>
                </a:solidFill>
                <a:latin typeface="Calibri"/>
              </a:rPr>
              <a:t>• Reproducibility: README.md + uv.lock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Trajectory adds a predictive layer to existing cyber defence: what may happen next, where, and why the analyst should look.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D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96012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600" b="1">
                <a:solidFill>
                  <a:srgbClr val="EEF2F8"/>
                </a:solidFill>
                <a:latin typeface="Calibri"/>
              </a:rPr>
              <a:t>Live Demo — Watch the AI Detect an Attack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8368"/>
            <a:ext cx="1005840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9FACC2"/>
                </a:solidFill>
                <a:latin typeface="Calibri"/>
              </a:rPr>
              <a:t>Real-time detection on a localhost attack simulation; deterministic and rehearsed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65615" y="182880"/>
            <a:ext cx="25603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9FACC2"/>
                </a:solidFill>
                <a:latin typeface="Calibri"/>
              </a:rPr>
              <a:t>TRAJECTORY  |  SIH26153  |  7/6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2ED3B7"/>
                </a:solidFill>
                <a:latin typeface="Calibri"/>
              </a:rPr>
              <a:t>Stage Storyline (measured in rehearsal)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36192"/>
            <a:ext cx="5212080" cy="3703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0:00 — Train the models live (~4 seconds, deterministic seed)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0:10 — Press Start: benign chatter begins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0:30 — Quiet window: P(infiltration) = 0.12, no false alarms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0:33 — ALERT: scan burst detected at P = 0.97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         Stage: Initial Access — MITRE ATT&amp;CK TA0001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0:48 — Failed logins: P = 1.00, evidence panel grows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1:03 — ESCALATION: Lateral Movement — MITRE TA0008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Same trained artifacts as the offline benchmark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EF2F8"/>
                </a:solidFill>
                <a:latin typeface="Calibri"/>
              </a:rPr>
              <a:t>• Sources: demo attack, CIC-IDS2017 replay, live capture</a:t>
            </a:r>
          </a:p>
        </p:txBody>
      </p:sp>
      <p:pic>
        <p:nvPicPr>
          <p:cNvPr id="9" name="Picture 8" descr="frame_0_t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143000"/>
            <a:ext cx="2377440" cy="13373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645920"/>
            <a:ext cx="3291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ED3B7"/>
                </a:solidFill>
                <a:latin typeface="Calibri"/>
              </a:rPr>
              <a:t>t=0 — benign, P=0.12</a:t>
            </a:r>
          </a:p>
        </p:txBody>
      </p:sp>
      <p:pic>
        <p:nvPicPr>
          <p:cNvPr id="11" name="Picture 10" descr="frame_1_t33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560320"/>
            <a:ext cx="2377440" cy="1337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58200" y="3063240"/>
            <a:ext cx="3291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ED3B7"/>
                </a:solidFill>
                <a:latin typeface="Calibri"/>
              </a:rPr>
              <a:t>t=33s — ALERT, P=0.97</a:t>
            </a:r>
          </a:p>
        </p:txBody>
      </p:sp>
      <p:pic>
        <p:nvPicPr>
          <p:cNvPr id="13" name="Picture 12" descr="frame_3_t63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977639"/>
            <a:ext cx="2377440" cy="13373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58200" y="4480559"/>
            <a:ext cx="329184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ED3B7"/>
                </a:solidFill>
                <a:latin typeface="Calibri"/>
              </a:rPr>
              <a:t>t=63s — Lateral Movement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9FACC2"/>
                </a:solidFill>
                <a:latin typeface="Calibri"/>
              </a:rPr>
              <a:t>Backup if live infra fails: deliverables/backup_demo/backup_demo.gif (animated) — same numbers as the live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